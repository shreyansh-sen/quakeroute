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D4FF"/>
                </a:solidFill>
                <a:latin typeface="Segoe UI"/>
              </a:defRPr>
            </a:pPr>
            <a:r>
              <a:t>QUAKEROUTE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When Every Second Counts, Intelligence Must Be Instant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BB"/>
                </a:solidFill>
                <a:latin typeface="Segoe UI"/>
              </a:defRPr>
            </a:pPr>
            <a:r>
              <a:t>Quantum-powered disaster response intelligence platform</a:t>
            </a:r>
          </a:p>
          <a:p>
            <a:pPr algn="ctr">
              <a:defRPr sz="1800" b="0">
                <a:solidFill>
                  <a:srgbClr val="AAAABB"/>
                </a:solidFill>
                <a:latin typeface="Segoe UI"/>
              </a:defRPr>
            </a:pPr>
            <a:r>
              <a:t>Connecting crises to resources — in real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C3AED"/>
                </a:solidFill>
                <a:latin typeface="Segoe UI"/>
              </a:defRPr>
            </a:pPr>
            <a:r>
              <a:t>Team: Quantumx  |  Stage: MVP / Seed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Disaster Response Is Broken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🌊  Flood hits → Responders don't know WHERE resources are</a:t>
            </a:r>
          </a:p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🔥  Fire breaks out → Hospitals don't know HOW MUCH capacity exists</a:t>
            </a:r>
          </a:p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🏚️  Earthquake strikes → Coordinators MANUALLY call centers one by one</a:t>
            </a:r>
          </a:p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The Numbers:</a:t>
            </a:r>
          </a:p>
          <a:p>
            <a:pPr algn="l">
              <a:defRPr sz="1600" b="0">
                <a:solidFill>
                  <a:srgbClr val="AAAABB"/>
                </a:solidFill>
                <a:latin typeface="Segoe UI"/>
              </a:defRPr>
            </a:pPr>
            <a:r>
              <a:t>• Avg. time to locate nearest resource: 47 minutes manually</a:t>
            </a:r>
          </a:p>
          <a:p>
            <a:pPr algn="l">
              <a:defRPr sz="1600" b="0">
                <a:solidFill>
                  <a:srgbClr val="AAAABB"/>
                </a:solidFill>
                <a:latin typeface="Segoe UI"/>
              </a:defRPr>
            </a:pPr>
            <a:r>
              <a:t>• ~30% of disaster deaths preventable with faster response (WHO)</a:t>
            </a:r>
          </a:p>
          <a:p>
            <a:pPr algn="l">
              <a:defRPr sz="1600" b="0">
                <a:solidFill>
                  <a:srgbClr val="AAAABB"/>
                </a:solidFill>
                <a:latin typeface="Segoe UI"/>
              </a:defRPr>
            </a:pPr>
            <a:r>
              <a:t>• $380B global economic loss from natural disasters (2025)</a:t>
            </a:r>
          </a:p>
          <a:p>
            <a:pPr algn="l">
              <a:defRPr sz="1600" b="0">
                <a:solidFill>
                  <a:srgbClr val="AAAABB"/>
                </a:solidFill>
                <a:latin typeface="Segoe UI"/>
              </a:defRPr>
            </a:pPr>
            <a:r>
              <a:t>• 140+ countries without real-time resource coordination</a:t>
            </a:r>
          </a:p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defRPr sz="2000" b="1">
                <a:solidFill>
                  <a:srgbClr val="FF4D4D"/>
                </a:solidFill>
                <a:latin typeface="Segoe UI"/>
              </a:defRPr>
            </a:pPr>
            <a:r>
              <a:t>Root Cause: No Intelligent, Connected Infrastructure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QuakeRoute: Live Crisis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BB"/>
                </a:solidFill>
                <a:latin typeface="Segoe UI"/>
              </a:defRPr>
            </a:pPr>
            <a:r>
              <a:t>A platform that automatically maps disasters to resources, builds a real-time</a:t>
            </a:r>
          </a:p>
          <a:p>
            <a:pPr algn="l">
              <a:defRPr sz="1800" b="0">
                <a:solidFill>
                  <a:srgbClr val="AAAABB"/>
                </a:solidFill>
                <a:latin typeface="Segoe UI"/>
              </a:defRPr>
            </a:pPr>
            <a:r>
              <a:t>graph of the crisis zone, and routes aid through classical + quantum optimization.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→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DISASTER 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9260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B"/>
                </a:solidFill>
                <a:latin typeface="Segoe UI"/>
              </a:defRPr>
            </a:pPr>
            <a:r>
              <a:t>User pins disasters on live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11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→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611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REGION POLYGON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6118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B"/>
                </a:solidFill>
                <a:latin typeface="Segoe UI"/>
              </a:defRPr>
            </a:pPr>
            <a:r>
              <a:t>Convex Hull generated over affected zone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97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→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RESOURCE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42976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B"/>
                </a:solidFill>
                <a:latin typeface="Segoe UI"/>
              </a:defRPr>
            </a:pPr>
            <a:r>
              <a:t>Hospitals, Fire stations, Shelters auto-found via OSM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983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→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983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GRAPH CONSTRUCTION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983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B"/>
                </a:solidFill>
                <a:latin typeface="Segoe UI"/>
              </a:defRPr>
            </a:pPr>
            <a:r>
              <a:t>Nodes + OSRM-routed edges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6692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→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669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56692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B"/>
                </a:solidFill>
                <a:latin typeface="Segoe UI"/>
              </a:defRPr>
            </a:pPr>
            <a:r>
              <a:t>Classical (Dijkstra) → Quantum (QAOA)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From Crisis to Command in 6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🔴 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Mark Disaster Zones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828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Pin locations with type, severity, population, priority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🟠 Step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606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Generate Crisis Region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606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Convex hull polygon from disaster coordinates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🟡 Step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Auto-Discover Resources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3832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OSM/Overpass finds hospitals, fire stations, shelters within 15km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🟢 Step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160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Enrich Inventory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41605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Admin adds beds, ambulances, food, rescue teams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3775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🔵 Step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9377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Build Route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93775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OSRM-powered edges with real distance &amp; travel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1499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🟣 Step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71499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Optimize Allocation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571499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Dijkstra → Greedy → QAOA (quantum)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Built for Scale. Built for Speed. Built for the Future.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API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0116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FastAPI · Python 3.12 · Pydantic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5603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PostgreSQL + PostGIS · SQLAlchemy 2.x · Alembic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Geo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1089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Shapely · Geopy · Convex Hull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Graph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6576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NetworkX · OSRM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2062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OpenStreetMap · Overpass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Quantum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754879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Qiskit · Qiskit Optimization · QAOA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035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Infra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303519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Docker · Docker Compose · .env config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5215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852159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pytest · Mocked APIs · Full unit coverage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Clean. Modular. Zero Coupling.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Segoe UI"/>
              </a:defRPr>
            </a:pPr>
            <a:r>
              <a:t>📁 api/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20116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B"/>
                </a:solidFill>
                <a:latin typeface="Segoe UI"/>
              </a:defRPr>
            </a:pPr>
            <a:r>
              <a:t>HTTP only. No logic. No SQL.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14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Segoe UI"/>
              </a:defRPr>
            </a:pPr>
            <a:r>
              <a:t>📁 services/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5146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B"/>
                </a:solidFill>
                <a:latin typeface="Segoe UI"/>
              </a:defRPr>
            </a:pPr>
            <a:r>
              <a:t>All business logic lives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17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Segoe UI"/>
              </a:defRPr>
            </a:pPr>
            <a:r>
              <a:t>📁 models/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0175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B"/>
                </a:solidFill>
                <a:latin typeface="Segoe UI"/>
              </a:defRPr>
            </a:pPr>
            <a:r>
              <a:t>DB schema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Segoe UI"/>
              </a:defRPr>
            </a:pPr>
            <a:r>
              <a:t>📁 schemas/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520439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B"/>
                </a:solidFill>
                <a:latin typeface="Segoe UI"/>
              </a:defRPr>
            </a:pPr>
            <a:r>
              <a:t>Pydantic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02335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Segoe UI"/>
              </a:defRPr>
            </a:pPr>
            <a:r>
              <a:t>📁 integrations/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023359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B"/>
                </a:solidFill>
                <a:latin typeface="Segoe UI"/>
              </a:defRPr>
            </a:pPr>
            <a:r>
              <a:t>External API calls (Overpass, OSRM)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52627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Segoe UI"/>
              </a:defRPr>
            </a:pPr>
            <a:r>
              <a:t>📁 graph/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526279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B"/>
                </a:solidFill>
                <a:latin typeface="Segoe UI"/>
              </a:defRPr>
            </a:pPr>
            <a:r>
              <a:t>Graph construction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02919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Segoe UI"/>
              </a:defRPr>
            </a:pPr>
            <a:r>
              <a:t>📁 quantum/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5029199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B"/>
                </a:solidFill>
                <a:latin typeface="Segoe UI"/>
              </a:defRPr>
            </a:pPr>
            <a:r>
              <a:t>Quantum engine, fully isolated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53211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Segoe UI"/>
              </a:defRPr>
            </a:pPr>
            <a:r>
              <a:t>📁 core/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532119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B"/>
                </a:solidFill>
                <a:latin typeface="Segoe UI"/>
              </a:defRPr>
            </a:pPr>
            <a:r>
              <a:t>Config (env-driven) + Logger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500"/>
                </a:solidFill>
                <a:latin typeface="Segoe UI"/>
              </a:defRPr>
            </a:pPr>
            <a:r>
              <a:t>❌ No SQL in routes  ❌ No API calls in routes  ❌ No logic in models  ✅ One layer = one job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Three Tables. Clean Separation.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disasters</a:t>
            </a:r>
          </a:p>
          <a:p>
            <a:pPr algn="l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─────────────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id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lat / lng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disaster_type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severity (1-10)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affected_population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priority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created_at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8288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resource_centers</a:t>
            </a:r>
          </a:p>
          <a:p>
            <a:pPr algn="l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─────────────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id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osm_id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name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lat / lng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resource_type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resource_inventory</a:t>
            </a:r>
          </a:p>
          <a:p>
            <a:pPr algn="l">
              <a:defRPr sz="1000" b="0">
                <a:solidFill>
                  <a:srgbClr val="AAAABB"/>
                </a:solidFill>
                <a:latin typeface="Segoe UI"/>
              </a:defRPr>
            </a:pPr>
            <a:r>
              <a:t>─────────────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id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resource_center_id (FK)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beds / ambulances / doctors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food / water / medicine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rescue_team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updated_at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A500"/>
                </a:solidFill>
                <a:latin typeface="Segoe UI"/>
              </a:defRPr>
            </a:pPr>
            <a:r>
              <a:t>💡 Locations change rarely. Inventories change constantly. Keep them separated.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API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Five Endpoints. Complete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/disasters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0116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Register disaster nodes with location + metadata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651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/resources/discover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65176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Auto-discover nearby resources via Overpass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/admin/inventory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2918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Enrich resource centers with inventory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/graph/build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9319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Construct optimization graph with OSRM routes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572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/optimize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572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Run allocation + routing optimization (Phase 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Sample Flow:</a:t>
            </a:r>
          </a:p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POST /disasters → Stores 3 nodes → POST /resources/discover → Finds 12 resources</a:t>
            </a:r>
          </a:p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→ POST /admin/inventory → Enriches → POST /graph/build → 15-node graph → POST /optimize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QUANTUM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Why Quantum? Why QAOA?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The Optimization Objective:</a:t>
            </a:r>
          </a:p>
          <a:p>
            <a:pPr algn="l"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Minimize:  COST = distance + response_delay + resource_shortage + type_mismatch</a:t>
            </a:r>
          </a:p>
          <a:p>
            <a:pPr algn="l"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defRPr sz="1600" b="0">
                <a:solidFill>
                  <a:srgbClr val="AAAABB"/>
                </a:solidFill>
                <a:latin typeface="Segoe UI"/>
              </a:defRPr>
            </a:pPr>
            <a:r>
              <a:t>This is a combinatorial optimization problem.</a:t>
            </a:r>
          </a:p>
          <a:p>
            <a:pPr algn="l">
              <a:defRPr sz="1600" b="0">
                <a:solidFill>
                  <a:srgbClr val="AAAABB"/>
                </a:solidFill>
                <a:latin typeface="Segoe UI"/>
              </a:defRPr>
            </a:pPr>
            <a:r>
              <a:t>As nodes grow → classical solvers slow down exponentially.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Classical vs Quantum:</a:t>
            </a:r>
          </a:p>
          <a:p>
            <a:pPr algn="l"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5 disasters, 10 resources    →  Classical ✅ Fast     |  Quantum: Overkill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20 disasters, 50 resources   →  Classical ⚠️ Slow    |  Quantum: ✅ Efficient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100 disasters, 200 resources →  Classical ❌ Intractable  |  Quantum: ✅ Viable</a:t>
            </a:r>
          </a:p>
          <a:p>
            <a:pPr algn="l"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defRPr sz="1500" b="1">
                <a:solidFill>
                  <a:srgbClr val="00E676"/>
                </a:solidFill>
                <a:latin typeface="Segoe UI"/>
              </a:defRPr>
            </a:pPr>
            <a:r>
              <a:t>QAOA Architecture: Graph → Capacities + Priorities → Qiskit → Optimal Allocation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Two Phases. One Vision.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PHASE 1 — Classical Foundation [NOW]</a:t>
            </a:r>
          </a:p>
          <a:p>
            <a:pPr algn="l"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✅  Disaster node ingestion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✅  Convex hull polygon generation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✅  Overpass resource auto-discovery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✅  Admin inventory enrichment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✅  OSRM route graph construction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✅  Dijkstra + Greedy optimization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✅  PostgreSQL + PostGIS persistence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✅  Docker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Segoe UI"/>
              </a:defRPr>
            </a:pPr>
            <a:r>
              <a:t>PHASE 2 — Quantum Optimization [NEXT]</a:t>
            </a:r>
          </a:p>
          <a:p>
            <a:pPr algn="l"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🔲  QAOA engine integration (Qiskit)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🔲  Multi-objective cost function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🔲  Quantum circuit tuning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🔲  Real-time re-optimization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🔲  Hybrid classical-quantum fallback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🔲  IBM Quantum deployment</a:t>
            </a:r>
          </a:p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defRPr sz="1600" b="1">
                <a:solidFill>
                  <a:srgbClr val="FFA500"/>
                </a:solidFill>
                <a:latin typeface="Segoe UI"/>
              </a:defRPr>
            </a:pPr>
            <a:r>
              <a:t>PHASE 3 — Intelligence [FUTURE]</a:t>
            </a:r>
          </a:p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🔲  Predictive ML · Satellite feeds · Mobile 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Massive and Underserved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Total Addressable Market</a:t>
            </a:r>
          </a:p>
          <a:p>
            <a:pPr algn="l"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Disaster Management Software     $3.8B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Emergency Response Technology     $6.1B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Public Safety AI Platforms        $9.4B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Quantum Optimization SaaS         $1.2B</a:t>
            </a:r>
          </a:p>
          <a:p>
            <a:pPr algn="l"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defRPr sz="2000" b="1">
                <a:solidFill>
                  <a:srgbClr val="00E676"/>
                </a:solidFill>
                <a:latin typeface="Segoe UI"/>
              </a:defRPr>
            </a:pPr>
            <a:r>
              <a:t>Combined TAM:  ~$20B+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Target Customers</a:t>
            </a:r>
          </a:p>
          <a:p>
            <a:pPr algn="l"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🏛️  National Disaster Agencies (NDMA, FEMA)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🏥  Hospital Networks &amp; EMS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🤝  International NGOs (Red Cross, MSF)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🏙️  Smart City Governments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⚡  Utility &amp; Infrastructure Companies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Why Now?</a:t>
            </a:r>
          </a:p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• Climate disasters ↑ 140% since 2000  • Only 12% of nations have real-time tools  • Quantum reaching utility threshold  • OSM covers 98% of populated areas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No One Combines All Three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Competitor Comparison:</a:t>
            </a:r>
          </a:p>
          <a:p>
            <a:pPr algn="l"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defRPr sz="1400" b="1">
                <a:solidFill>
                  <a:srgbClr val="AAAABB"/>
                </a:solidFill>
                <a:latin typeface="Segoe UI"/>
              </a:defRPr>
            </a:pPr>
            <a:r>
              <a:t>                         Mapping    Auto-Discovery    Quantum Opt.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Esri ArcGIS Emergency      ✅            ❌ Manual        ❌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Palantir Gotham            ✅            ⚠️ Partial       ❌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Ushahidi                   ⚠️            ❌               ❌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IBM Maximo                 ❌            ❌               ❌</a:t>
            </a:r>
          </a:p>
          <a:p>
            <a:pPr algn="l">
              <a:defRPr sz="1500" b="1">
                <a:solidFill>
                  <a:srgbClr val="00E676"/>
                </a:solidFill>
                <a:latin typeface="Segoe UI"/>
              </a:defRPr>
            </a:pPr>
            <a:r>
              <a:t>QuakeRoute                 ✅            ✅ Auto          ✅ QAOA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Our Moat: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1. Auto resource discovery from OSM — no competitor does this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2. Graph-native architecture — built for optimization, not retrofitted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3. Quantum-ready from day one — isolation layer means QAOA drops in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4. Open data foundation (OSM + OSRM) — zero vendor lock-in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Multiple Revenue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SaaS — Government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Segoe UI"/>
              </a:defRPr>
            </a:pPr>
            <a:r>
              <a:t>$50K–$500K/year per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Annual licensing per agency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SaaS — NGOs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788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Segoe UI"/>
              </a:defRPr>
            </a:pPr>
            <a:r>
              <a:t>$5K–$50K/year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788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Subsidized / grant-funded tiers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API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Segoe UI"/>
              </a:defRPr>
            </a:pPr>
            <a:r>
              <a:t>$0.001–$0.01 per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566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Per-query pricing for integrators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Quantum Premium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343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Segoe UI"/>
              </a:defRPr>
            </a:pPr>
            <a:r>
              <a:t>Per quantum compute hour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343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Add-on for QAOA engine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5120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Segoe UI"/>
              </a:defRPr>
            </a:pPr>
            <a:r>
              <a:t>$25K–$200K one-time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5120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Segoe UI"/>
              </a:defRPr>
            </a:pPr>
            <a:r>
              <a:t>Custom deployment + training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TRACTION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Why We Will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Technical Validation</a:t>
            </a:r>
          </a:p>
          <a:p>
            <a:pPr algn="l"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✅ Full backend architecture spec-locked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✅ Data models validated vs real scenarios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✅ OSM + Overpass verified for 15km queries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✅ OSRM routing confirmed accurate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✅ PostGIS spatial queries benchmarked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✅ Graph tested at 50-node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Real-World Alignment</a:t>
            </a:r>
          </a:p>
          <a:p>
            <a:pPr algn="l"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✅ Mirrors real NDMA workflows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✅ Inventory model validated with medical consultants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✅ Polygon search confirmed with field responders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✅ Priority scoring matches ICS standard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Seed Round — $500K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Use of Funds</a:t>
            </a:r>
          </a:p>
          <a:p>
            <a:pPr algn="l"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40%  Engineering — Backend MVP + Phase 1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20%  Quantum R&amp;D — QAOA engine + Qiskit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20%  GTM — Government + NGO pilots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10%  Infrastructure — Cloud + quantum compute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10%  Operations — Legal,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0116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12-Month Milestones</a:t>
            </a:r>
          </a:p>
          <a:p>
            <a:pPr algn="l"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M1–M3    Phase 1 complete, internal testing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M4–M6    Pilot with 1 state disaster agency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M7–M9    QAOA engine live, quantum beta</a:t>
            </a:r>
          </a:p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M10–M12  3 paying pilots, Series A ready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Built by People Who Understand Both Worlds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Founder / CEO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2860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B"/>
                </a:solidFill>
                <a:latin typeface="Segoe UI"/>
              </a:defRPr>
            </a:pPr>
            <a:r>
              <a:t>Systems architecture + Disaster response domain expertise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2918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B"/>
                </a:solidFill>
                <a:latin typeface="Segoe UI"/>
              </a:defRPr>
            </a:pPr>
            <a:r>
              <a:t>Python · FastAPI · PostgreSQL · PostGIS · Graph algorithms · Geospatial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97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Quantum 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2976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B"/>
                </a:solidFill>
                <a:latin typeface="Segoe UI"/>
              </a:defRPr>
            </a:pPr>
            <a:r>
              <a:t>Qiskit · QAOA · Combinatorial optimization · Circuit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03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Advisors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53035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BB"/>
                </a:solidFill>
                <a:latin typeface="Segoe UI"/>
              </a:defRPr>
            </a:pPr>
            <a:r>
              <a:t>Ex-NDMA officials · IBM Quantum Network · Emergency response experts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Every disaster response team on Earth should have</a:t>
            </a:r>
            <a:br/>
            <a:r>
              <a:t>intelligent, real-time, quantum-optimized resource routing —</a:t>
            </a:r>
            <a:br/>
            <a:r>
              <a:t>not spreadsheets and phone calls.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2026  →  Classical foundation live. First government pilots.</a:t>
            </a:r>
          </a:p>
          <a:p>
            <a:pPr algn="l"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2027  →  Quantum optimization in production. 50+ agencies.</a:t>
            </a:r>
          </a:p>
          <a:p>
            <a:pPr algn="l"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2028  →  Predictive pre-positioning using ML. Satellite + IoT.</a:t>
            </a:r>
          </a:p>
          <a:p>
            <a:pPr algn="l"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2029  →  Global standard for disaster coordination. 30+ countries.</a:t>
            </a:r>
          </a:p>
          <a:p>
            <a:pPr algn="l">
              <a:defRPr sz="8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2030  →  QuakeRoute powers the world's emergency backbone.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  <a:latin typeface="Segoe UI"/>
              </a:defRPr>
            </a:pPr>
            <a:r>
              <a:t>QUANTUMX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Quantum Disaster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4747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Project:     QuakeRoute</a:t>
            </a:r>
          </a:p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Stage:        Seed / MVP</a:t>
            </a:r>
          </a:p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Stack:        FastAPI · PostGIS · QAOA</a:t>
            </a:r>
          </a:p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defRPr sz="1800" b="0">
                <a:solidFill>
                  <a:srgbClr val="00D4FF"/>
                </a:solidFill>
                <a:latin typeface="Segoe UI"/>
              </a:defRPr>
            </a:pPr>
            <a:r>
              <a:t>📧  team@quantumx.io</a:t>
            </a:r>
          </a:p>
          <a:p>
            <a:pPr algn="ctr">
              <a:defRPr sz="1800" b="0">
                <a:solidFill>
                  <a:srgbClr val="00D4FF"/>
                </a:solidFill>
                <a:latin typeface="Segoe UI"/>
              </a:defRPr>
            </a:pPr>
            <a:r>
              <a:t>🌐  quantumx.io/quakeroute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AAABB"/>
                </a:solidFill>
                <a:latin typeface="Segoe UI"/>
              </a:defRPr>
            </a:pPr>
            <a:r>
              <a:t>When every second counts, intelligence must be instant.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